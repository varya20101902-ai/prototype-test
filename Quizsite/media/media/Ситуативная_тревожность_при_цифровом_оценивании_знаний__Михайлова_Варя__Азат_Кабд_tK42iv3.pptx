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1"/>
  </p:handoutMasterIdLst>
  <p:sldIdLst>
    <p:sldId id="272" r:id="rId4"/>
    <p:sldId id="288" r:id="rId6"/>
    <p:sldId id="299" r:id="rId7"/>
    <p:sldId id="298" r:id="rId8"/>
    <p:sldId id="294" r:id="rId9"/>
    <p:sldId id="295" r:id="rId10"/>
    <p:sldId id="296" r:id="rId11"/>
    <p:sldId id="297" r:id="rId12"/>
    <p:sldId id="285" r:id="rId13"/>
    <p:sldId id="284" r:id="rId14"/>
    <p:sldId id="286" r:id="rId15"/>
    <p:sldId id="300" r:id="rId16"/>
    <p:sldId id="301" r:id="rId17"/>
    <p:sldId id="302" r:id="rId18"/>
    <p:sldId id="304" r:id="rId19"/>
    <p:sldId id="303" r:id="rId20"/>
  </p:sldIdLst>
  <p:sldSz cx="12192000" cy="6858000"/>
  <p:notesSz cx="6858000" cy="9144000"/>
  <p:embeddedFontLst>
    <p:embeddedFont>
      <p:font typeface="Nunito Sans" charset="0"/>
      <p:regular r:id="rId25"/>
      <p:bold r:id="rId26"/>
      <p:italic r:id="rId27"/>
      <p:boldItalic r:id="rId28"/>
    </p:embeddedFont>
    <p:embeddedFont>
      <p:font typeface="Nunito Sans ExtraBold" charset="0"/>
      <p:bold r:id="rId29"/>
    </p:embeddedFont>
    <p:embeddedFont>
      <p:font typeface="Microsoft YaHei" panose="020B0503020204020204" charset="-122"/>
      <p:regular r:id="rId30"/>
    </p:embeddedFont>
    <p:embeddedFont>
      <p:font typeface="Manrope ExtraBold" charset="0"/>
      <p:bold r:id="rId31"/>
    </p:embeddedFont>
    <p:embeddedFont>
      <p:font typeface="Nunito Sans Light" charset="0"/>
      <p:regular r:id="rId32"/>
      <p:italic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9C96"/>
    <a:srgbClr val="AECDCA"/>
    <a:srgbClr val="016A7D"/>
    <a:srgbClr val="0D7578"/>
    <a:srgbClr val="FFDCAD"/>
    <a:srgbClr val="109618"/>
    <a:srgbClr val="FF9900"/>
    <a:srgbClr val="DC3912"/>
    <a:srgbClr val="3366CC"/>
    <a:srgbClr val="769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291" autoAdjust="0"/>
  </p:normalViewPr>
  <p:slideViewPr>
    <p:cSldViewPr snapToGrid="0" showGuides="1">
      <p:cViewPr>
        <p:scale>
          <a:sx n="50" d="100"/>
          <a:sy n="50" d="100"/>
        </p:scale>
        <p:origin x="1664" y="904"/>
      </p:cViewPr>
      <p:guideLst>
        <p:guide orient="horz" pos="21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gs" Target="tags/tag104.xml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ru-RU" sz="16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600"/>
              <a:t>после теста/экзамена с ограниченным временем я понимаю, что тревога помешала мне показать реальные знания </a:t>
            </a:r>
            <a:endParaRPr sz="1600"/>
          </a:p>
        </c:rich>
      </c:tx>
      <c:layout>
        <c:manualLayout>
          <c:xMode val="edge"/>
          <c:yMode val="edge"/>
          <c:x val="0.0646529599692544"/>
          <c:y val="0.0046196489066830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всегда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часто</c:v>
                </c:pt>
              </c:strCache>
            </c:strRef>
          </c:tx>
          <c:spPr>
            <a:solidFill>
              <a:srgbClr val="109618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25.7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иногда</c:v>
                </c:pt>
              </c:strCache>
            </c:strRef>
          </c:tx>
          <c:spPr>
            <a:solidFill>
              <a:srgbClr val="3366CC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41.4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никогда</c:v>
                </c:pt>
              </c:strCache>
            </c:strRef>
          </c:tx>
          <c:spPr>
            <a:solidFill>
              <a:srgbClr val="A5CDD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18.6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408660189"/>
        <c:axId val="246437969"/>
      </c:barChart>
      <c:catAx>
        <c:axId val="408660189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6437969"/>
        <c:crosses val="autoZero"/>
        <c:auto val="1"/>
        <c:lblAlgn val="ctr"/>
        <c:lblOffset val="100"/>
        <c:noMultiLvlLbl val="0"/>
      </c:catAx>
      <c:valAx>
        <c:axId val="24643796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866018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ru-RU"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ru-RU"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ru-RU"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ru-RU"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83641258936032"/>
          <c:y val="0.92735728030789"/>
          <c:w val="0.672639494940117"/>
          <c:h val="0.0678319435535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ru-RU" sz="20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chemeClr val="tx1">
                    <a:lumMod val="65000"/>
                    <a:lumOff val="35000"/>
                  </a:schemeClr>
                </a:solidFill>
              </a:u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20ee923-5f8e-4d9a-b632-299e1f6421bb}"/>
      </c:ext>
    </c:extLst>
  </c:chart>
  <c:spPr>
    <a:noFill/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Экзамены/тесты с ограниченным временем обычно вас очень тревожат </a:t>
            </a:r>
          </a:p>
        </c:rich>
      </c:tx>
      <c:layout>
        <c:manualLayout>
          <c:xMode val="edge"/>
          <c:yMode val="edge"/>
          <c:x val="0.135595580726024"/>
          <c:y val="0.0048107761385503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85674496332745"/>
          <c:y val="0.202718008018886"/>
          <c:w val="0.442205923312599"/>
          <c:h val="0.76379089159717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всегда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Lbls>
            <c:dLbl>
              <c:idx val="0"/>
              <c:layout>
                <c:manualLayout>
                  <c:x val="0.000906175937543566"/>
                  <c:y val="-0.008664557832485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786978948835912"/>
                      <c:h val="0.10026131206161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32.4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часто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00975881778893071"/>
                  <c:y val="0.01526612570485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38.2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иногда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никогда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4.4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-32"/>
        <c:axId val="380665007"/>
        <c:axId val="720467366"/>
      </c:barChart>
      <c:catAx>
        <c:axId val="3806650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0467366"/>
        <c:crosses val="autoZero"/>
        <c:auto val="1"/>
        <c:lblAlgn val="ctr"/>
        <c:lblOffset val="100"/>
        <c:noMultiLvlLbl val="0"/>
      </c:catAx>
      <c:valAx>
        <c:axId val="72046736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80665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9187502364311"/>
          <c:y val="0.077135969074589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e23d9dd-dcdc-4617-a219-7a25b92a0f8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Nunito Sans ExtraBold" charset="0"/>
                <a:ea typeface="Nunito Sans" charset="0"/>
                <a:cs typeface="Nunito Sans" charset="0"/>
              </a:rPr>
            </a:fld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Nunito Sans ExtraBold" charset="0"/>
                <a:ea typeface="Nunito Sans" charset="0"/>
                <a:cs typeface="Nunito Sans" charset="0"/>
              </a:rPr>
            </a:fld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443EBE89-AAC7-48B1-92F5-A99283D773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7CC1DC1D-7B54-4897-BDCA-22D6E8D80F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Nunito Sans" charset="0"/>
              </a:defRPr>
            </a:lvl1pPr>
          </a:lstStyle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Nunito Sans" charset="0"/>
              </a:defRPr>
            </a:lvl1pPr>
          </a:lstStyle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Nunito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Nunito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Nunito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Nunito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Nunito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Nunito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4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5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87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7246620" y="5383530"/>
            <a:ext cx="4507865" cy="1261745"/>
          </a:xfrm>
          <a:prstGeom prst="roundRect">
            <a:avLst/>
          </a:prstGeom>
          <a:solidFill>
            <a:srgbClr val="AECD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矩形: 圆角 23"/>
          <p:cNvSpPr/>
          <p:nvPr>
            <p:custDataLst>
              <p:tags r:id="rId1"/>
            </p:custDataLst>
          </p:nvPr>
        </p:nvSpPr>
        <p:spPr>
          <a:xfrm>
            <a:off x="7022465" y="5227320"/>
            <a:ext cx="4793615" cy="150558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400" dirty="0">
                <a:solidFill>
                  <a:schemeClr val="tx1"/>
                </a:solidFill>
                <a:cs typeface="Nunito Sans" charset="0"/>
              </a:rPr>
              <a:t>Автор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:</a:t>
            </a:r>
            <a:r>
              <a:rPr lang="ru-RU" altLang="en-US" sz="1400" dirty="0">
                <a:solidFill>
                  <a:schemeClr val="tx1"/>
                </a:solidFill>
                <a:cs typeface="Nunito Sans" charset="0"/>
              </a:rPr>
              <a:t> </a:t>
            </a:r>
            <a:r>
              <a:rPr lang="ru-RU" altLang="en-US" sz="1400" b="1" dirty="0">
                <a:solidFill>
                  <a:schemeClr val="tx1"/>
                </a:solidFill>
                <a:cs typeface="Nunito Sans" charset="0"/>
              </a:rPr>
              <a:t>Михайлова Варя</a:t>
            </a:r>
            <a:r>
              <a:rPr lang="ru-RU" altLang="en-US" sz="1400" dirty="0">
                <a:solidFill>
                  <a:schemeClr val="tx1"/>
                </a:solidFill>
                <a:cs typeface="Nunito Sans" charset="0"/>
              </a:rPr>
              <a:t>, ученица 9 класса  НУ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”</a:t>
            </a:r>
            <a:r>
              <a:rPr lang="ru-RU" altLang="en-US" sz="1400" dirty="0">
                <a:solidFill>
                  <a:schemeClr val="tx1"/>
                </a:solidFill>
                <a:cs typeface="Nunito Sans" charset="0"/>
              </a:rPr>
              <a:t>Школа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”</a:t>
            </a:r>
            <a:r>
              <a:rPr lang="ru-RU" altLang="en-US" sz="1400" dirty="0">
                <a:solidFill>
                  <a:schemeClr val="tx1"/>
                </a:solidFill>
                <a:cs typeface="Nunito Sans" charset="0"/>
              </a:rPr>
              <a:t>Престиж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” </a:t>
            </a:r>
            <a:endParaRPr lang="en-US" altLang="en-US" sz="1400" dirty="0">
              <a:solidFill>
                <a:schemeClr val="tx1"/>
              </a:solidFill>
              <a:cs typeface="Nunito Sans" charset="0"/>
            </a:endParaRPr>
          </a:p>
          <a:p>
            <a:pPr algn="ctr"/>
            <a:r>
              <a:rPr lang="en-US" altLang="en-US" sz="1400" b="1" dirty="0">
                <a:solidFill>
                  <a:schemeClr val="tx1"/>
                </a:solidFill>
                <a:cs typeface="Nunito Sans" charset="0"/>
              </a:rPr>
              <a:t>Кабдуллин</a:t>
            </a:r>
            <a:r>
              <a:rPr lang="en-US" altLang="ru-RU" sz="1400" b="1" dirty="0">
                <a:solidFill>
                  <a:schemeClr val="tx1"/>
                </a:solidFill>
                <a:cs typeface="Nunito Sans" charset="0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cs typeface="Nunito Sans" charset="0"/>
              </a:rPr>
              <a:t>Азат</a:t>
            </a:r>
            <a:r>
              <a:rPr lang="ru-RU" altLang="en-US" sz="1400" dirty="0">
                <a:solidFill>
                  <a:schemeClr val="tx1"/>
                </a:solidFill>
                <a:cs typeface="Nunito Sans" charset="0"/>
              </a:rPr>
              <a:t>,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Казахский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национальный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исследовательский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технический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университет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имени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К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.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И</a:t>
            </a:r>
            <a:r>
              <a:rPr lang="en-US" altLang="ru-RU" sz="1400" dirty="0">
                <a:solidFill>
                  <a:schemeClr val="tx1"/>
                </a:solidFill>
                <a:cs typeface="Nunito Sans" charset="0"/>
              </a:rPr>
              <a:t>. </a:t>
            </a:r>
            <a:r>
              <a:rPr lang="en-US" altLang="en-US" sz="1400" dirty="0">
                <a:solidFill>
                  <a:schemeClr val="tx1"/>
                </a:solidFill>
                <a:cs typeface="Nunito Sans" charset="0"/>
              </a:rPr>
              <a:t>Сатпаева</a:t>
            </a:r>
            <a:endParaRPr lang="en-US" altLang="en-US" sz="1400" dirty="0">
              <a:solidFill>
                <a:schemeClr val="tx1"/>
              </a:solidFill>
              <a:cs typeface="Nunito Sans" charset="0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35610" y="1316355"/>
            <a:ext cx="10385425" cy="23926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 sz="6000" dirty="0">
                <a:solidFill>
                  <a:schemeClr val="tx1"/>
                </a:solidFill>
              </a:rPr>
              <a:t>Ситуативная</a:t>
            </a:r>
            <a:r>
              <a:rPr lang="en-US" altLang="ru-RU" sz="6000" dirty="0">
                <a:solidFill>
                  <a:schemeClr val="tx1"/>
                </a:solidFill>
              </a:rPr>
              <a:t> </a:t>
            </a:r>
            <a:r>
              <a:rPr lang="en-US" altLang="en-US" sz="6000" dirty="0">
                <a:solidFill>
                  <a:schemeClr val="tx1"/>
                </a:solidFill>
              </a:rPr>
              <a:t>тревожность</a:t>
            </a:r>
            <a:r>
              <a:rPr lang="en-US" altLang="ru-RU" sz="6000" dirty="0">
                <a:solidFill>
                  <a:schemeClr val="tx1"/>
                </a:solidFill>
              </a:rPr>
              <a:t> </a:t>
            </a:r>
            <a:r>
              <a:rPr lang="en-US" altLang="en-US" sz="6000" dirty="0">
                <a:solidFill>
                  <a:schemeClr val="tx1"/>
                </a:solidFill>
              </a:rPr>
              <a:t>при</a:t>
            </a:r>
            <a:r>
              <a:rPr lang="en-US" altLang="ru-RU" sz="6000" dirty="0">
                <a:solidFill>
                  <a:schemeClr val="tx1"/>
                </a:solidFill>
              </a:rPr>
              <a:t> </a:t>
            </a:r>
            <a:r>
              <a:rPr lang="en-US" altLang="en-US" sz="6000" dirty="0">
                <a:solidFill>
                  <a:schemeClr val="tx1"/>
                </a:solidFill>
              </a:rPr>
              <a:t>цифровом</a:t>
            </a:r>
            <a:r>
              <a:rPr lang="en-US" altLang="ru-RU" sz="6000" dirty="0">
                <a:solidFill>
                  <a:schemeClr val="tx1"/>
                </a:solidFill>
              </a:rPr>
              <a:t> </a:t>
            </a:r>
            <a:r>
              <a:rPr lang="en-US" altLang="en-US" sz="6000" dirty="0">
                <a:solidFill>
                  <a:schemeClr val="tx1"/>
                </a:solidFill>
              </a:rPr>
              <a:t>оценивании</a:t>
            </a:r>
            <a:r>
              <a:rPr lang="en-US" altLang="ru-RU" sz="6000" dirty="0">
                <a:solidFill>
                  <a:schemeClr val="tx1"/>
                </a:solidFill>
              </a:rPr>
              <a:t> </a:t>
            </a:r>
            <a:r>
              <a:rPr lang="en-US" altLang="en-US" sz="6000" dirty="0">
                <a:solidFill>
                  <a:schemeClr val="tx1"/>
                </a:solidFill>
              </a:rPr>
              <a:t>знаний</a:t>
            </a:r>
            <a:r>
              <a:rPr lang="en-US" altLang="ru-RU" sz="6000" dirty="0">
                <a:solidFill>
                  <a:schemeClr val="tx1"/>
                </a:solidFill>
              </a:rPr>
              <a:t>: </a:t>
            </a:r>
            <a:endParaRPr lang="en-US" altLang="ru-RU" sz="6000" dirty="0">
              <a:solidFill>
                <a:schemeClr val="tx1"/>
              </a:solidFill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319530" y="3738245"/>
            <a:ext cx="10043160" cy="14592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влияние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временных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ограничений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на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академические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результаты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в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контексте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устойчивого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развития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и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социальной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ответственности</a:t>
            </a:r>
            <a:r>
              <a:rPr lang="en-US" altLang="ru-RU" sz="27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700" dirty="0">
                <a:solidFill>
                  <a:schemeClr val="tx1"/>
                </a:solidFill>
                <a:sym typeface="+mn-ea"/>
              </a:rPr>
              <a:t>образования</a:t>
            </a:r>
            <a:endParaRPr lang="en-US" altLang="en-US" sz="2700" dirty="0">
              <a:solidFill>
                <a:schemeClr val="tx1"/>
              </a:solidFill>
            </a:endParaRPr>
          </a:p>
          <a:p>
            <a:endParaRPr lang="en-US" altLang="en-US" sz="2700" dirty="0">
              <a:solidFill>
                <a:schemeClr val="tx1"/>
              </a:solidFill>
              <a:ea typeface="+mn-ea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6219825" y="123825"/>
            <a:ext cx="5314315" cy="815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ru-RU" b="1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“Satbayev International Conference (2026)”</a:t>
            </a:r>
            <a:endParaRPr lang="en-US" altLang="ru-RU" b="1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00470" y="261575"/>
            <a:ext cx="10800000" cy="720000"/>
          </a:xfrm>
        </p:spPr>
        <p:txBody>
          <a:bodyPr/>
          <a:p>
            <a:r>
              <a:rPr lang="ru-RU" altLang="en-US"/>
              <a:t>Проблема/вопрос исследования </a:t>
            </a:r>
            <a:endParaRPr lang="ru-RU" altLang="en-US"/>
          </a:p>
        </p:txBody>
      </p:sp>
      <p:grpSp>
        <p:nvGrpSpPr>
          <p:cNvPr id="3" name="Группа 2"/>
          <p:cNvGrpSpPr/>
          <p:nvPr>
            <p:custDataLst>
              <p:tags r:id="rId2"/>
            </p:custDataLst>
          </p:nvPr>
        </p:nvGrpSpPr>
        <p:grpSpPr>
          <a:xfrm>
            <a:off x="1175385" y="1460500"/>
            <a:ext cx="9808210" cy="4639310"/>
            <a:chOff x="2158" y="2867"/>
            <a:chExt cx="15446" cy="7306"/>
          </a:xfrm>
        </p:grpSpPr>
        <p:cxnSp>
          <p:nvCxnSpPr>
            <p:cNvPr id="65" name="直接连接符 24"/>
            <p:cNvCxnSpPr/>
            <p:nvPr>
              <p:custDataLst>
                <p:tags r:id="rId3"/>
              </p:custDataLst>
            </p:nvPr>
          </p:nvCxnSpPr>
          <p:spPr>
            <a:xfrm>
              <a:off x="2601" y="3970"/>
              <a:ext cx="0" cy="1260"/>
            </a:xfrm>
            <a:prstGeom prst="line">
              <a:avLst/>
            </a:prstGeom>
            <a:solidFill>
              <a:srgbClr val="00993F"/>
            </a:solidFill>
            <a:ln w="12700" cap="flat" cmpd="sng" algn="ctr">
              <a:solidFill>
                <a:srgbClr val="000000">
                  <a:alpha val="30000"/>
                </a:srgbClr>
              </a:solidFill>
              <a:prstDash val="sysDot"/>
              <a:miter lim="800000"/>
            </a:ln>
            <a:effectLst/>
          </p:spPr>
        </p:cxnSp>
        <p:sp>
          <p:nvSpPr>
            <p:cNvPr id="67" name="椭圆 21"/>
            <p:cNvSpPr/>
            <p:nvPr>
              <p:custDataLst>
                <p:tags r:id="rId4"/>
              </p:custDataLst>
            </p:nvPr>
          </p:nvSpPr>
          <p:spPr>
            <a:xfrm>
              <a:off x="2158" y="2867"/>
              <a:ext cx="886" cy="886"/>
            </a:xfrm>
            <a:prstGeom prst="ellipse">
              <a:avLst/>
            </a:prstGeom>
            <a:solidFill>
              <a:srgbClr val="0D7578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normAutofit/>
            </a:bodyPr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b="1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sym typeface="Arial" panose="020B0604020202020204" pitchFamily="34" charset="0"/>
                </a:rPr>
                <a:t>01</a:t>
              </a:r>
              <a:endParaRPr lang="en-US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68" name="椭圆 22"/>
            <p:cNvSpPr/>
            <p:nvPr>
              <p:custDataLst>
                <p:tags r:id="rId5"/>
              </p:custDataLst>
            </p:nvPr>
          </p:nvSpPr>
          <p:spPr>
            <a:xfrm>
              <a:off x="2158" y="5450"/>
              <a:ext cx="886" cy="886"/>
            </a:xfrm>
            <a:prstGeom prst="ellipse">
              <a:avLst/>
            </a:prstGeom>
            <a:solidFill>
              <a:srgbClr val="0D7578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normAutofit/>
            </a:bodyPr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b="1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sym typeface="Arial" panose="020B0604020202020204" pitchFamily="34" charset="0"/>
                </a:rPr>
                <a:t>02</a:t>
              </a:r>
              <a:endParaRPr lang="en-US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69" name="椭圆 6"/>
            <p:cNvSpPr/>
            <p:nvPr>
              <p:custDataLst>
                <p:tags r:id="rId6"/>
              </p:custDataLst>
            </p:nvPr>
          </p:nvSpPr>
          <p:spPr>
            <a:xfrm>
              <a:off x="2158" y="8033"/>
              <a:ext cx="886" cy="886"/>
            </a:xfrm>
            <a:prstGeom prst="ellipse">
              <a:avLst/>
            </a:prstGeom>
            <a:solidFill>
              <a:srgbClr val="0D7578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normAutofit/>
            </a:bodyPr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b="1" kern="1200">
                  <a:solidFill>
                    <a:schemeClr val="tx1"/>
                  </a:solidFill>
                  <a:effectLst/>
                  <a:latin typeface="Arial" panose="020B0604020202020204" pitchFamily="34" charset="0"/>
                  <a:sym typeface="Arial" panose="020B0604020202020204" pitchFamily="34" charset="0"/>
                </a:rPr>
                <a:t>03</a:t>
              </a:r>
              <a:endParaRPr lang="en-US" b="1" kern="1200">
                <a:solidFill>
                  <a:schemeClr val="tx1"/>
                </a:solidFill>
                <a:effectLst/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0" name="矩形 19"/>
            <p:cNvSpPr/>
            <p:nvPr>
              <p:custDataLst>
                <p:tags r:id="rId7"/>
              </p:custDataLst>
            </p:nvPr>
          </p:nvSpPr>
          <p:spPr bwMode="auto">
            <a:xfrm>
              <a:off x="4022" y="2867"/>
              <a:ext cx="13021" cy="7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 anchorCtr="0">
              <a:normAutofit/>
            </a:bodyPr>
            <a:p>
              <a:pPr lvl="0" algn="l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2000" b="1" i="1" dirty="0">
                  <a:ln>
                    <a:noFill/>
                    <a:prstDash val="sysDot"/>
                  </a:ln>
                  <a:solidFill>
                    <a:srgbClr val="0D7578"/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Гипотеза 1: </a:t>
              </a:r>
              <a:endParaRPr lang="en-US" sz="2000" b="1" i="1" dirty="0">
                <a:ln>
                  <a:noFill/>
                  <a:prstDash val="sysDot"/>
                </a:ln>
                <a:solidFill>
                  <a:srgbClr val="0D7578"/>
                </a:solidFill>
                <a:uFillTx/>
                <a:latin typeface="Arial" panose="020B0604020202020204" pitchFamily="34" charset="0"/>
                <a:sym typeface="Microsoft YaHei" panose="020B0503020204020204" charset="-122"/>
              </a:endParaRPr>
            </a:p>
          </p:txBody>
        </p:sp>
        <p:sp>
          <p:nvSpPr>
            <p:cNvPr id="71" name="矩形 5"/>
            <p:cNvSpPr/>
            <p:nvPr>
              <p:custDataLst>
                <p:tags r:id="rId8"/>
              </p:custDataLst>
            </p:nvPr>
          </p:nvSpPr>
          <p:spPr>
            <a:xfrm>
              <a:off x="4022" y="3726"/>
              <a:ext cx="13023" cy="1388"/>
            </a:xfrm>
            <a:prstGeom prst="rect">
              <a:avLst/>
            </a:prstGeom>
            <a:ln>
              <a:noFill/>
              <a:prstDash val="sysDash"/>
            </a:ln>
          </p:spPr>
          <p:txBody>
            <a:bodyPr vert="horz" wrap="square" lIns="0" tIns="0" rIns="0" bIns="0" rtlCol="0" anchor="t" anchorCtr="0">
              <a:normAutofit/>
            </a:bodyPr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>
                    <a:noFill/>
                    <a:prstDash val="sysDot"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Экзамены с ограничением времени вызывают большую ситуативную тревожность, чем те же задания без ограничения времени.</a:t>
              </a:r>
              <a:endParaRPr lang="en-US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endParaRPr>
            </a:p>
          </p:txBody>
        </p:sp>
        <p:sp>
          <p:nvSpPr>
            <p:cNvPr id="72" name="矩形 29"/>
            <p:cNvSpPr/>
            <p:nvPr>
              <p:custDataLst>
                <p:tags r:id="rId9"/>
              </p:custDataLst>
            </p:nvPr>
          </p:nvSpPr>
          <p:spPr bwMode="auto">
            <a:xfrm>
              <a:off x="4022" y="5431"/>
              <a:ext cx="13021" cy="7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 anchorCtr="0">
              <a:normAutofit/>
            </a:bodyPr>
            <a:p>
              <a:pPr lvl="0" algn="l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2000" b="1" i="1" dirty="0">
                  <a:ln>
                    <a:noFill/>
                    <a:prstDash val="sysDot"/>
                  </a:ln>
                  <a:solidFill>
                    <a:srgbClr val="0D7578"/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Гипотеза </a:t>
              </a:r>
              <a:r>
                <a:rPr lang="ru-RU" altLang="en-US" sz="2000" b="1" i="1" dirty="0">
                  <a:ln>
                    <a:noFill/>
                    <a:prstDash val="sysDot"/>
                  </a:ln>
                  <a:solidFill>
                    <a:srgbClr val="0D7578"/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2</a:t>
              </a:r>
              <a:r>
                <a:rPr lang="en-US" sz="2000" b="1" i="1" dirty="0">
                  <a:ln>
                    <a:noFill/>
                    <a:prstDash val="sysDot"/>
                  </a:ln>
                  <a:solidFill>
                    <a:srgbClr val="0D7578"/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: </a:t>
              </a:r>
              <a:endParaRPr lang="en-US" sz="2000" b="1" i="1" dirty="0">
                <a:ln>
                  <a:noFill/>
                  <a:prstDash val="sysDot"/>
                </a:ln>
                <a:solidFill>
                  <a:srgbClr val="0D7578"/>
                </a:solidFill>
                <a:uFillTx/>
                <a:latin typeface="Arial" panose="020B0604020202020204" pitchFamily="34" charset="0"/>
                <a:sym typeface="Microsoft YaHei" panose="020B0503020204020204" charset="-122"/>
              </a:endParaRPr>
            </a:p>
          </p:txBody>
        </p:sp>
        <p:sp>
          <p:nvSpPr>
            <p:cNvPr id="74" name="矩形 7"/>
            <p:cNvSpPr/>
            <p:nvPr>
              <p:custDataLst>
                <p:tags r:id="rId10"/>
              </p:custDataLst>
            </p:nvPr>
          </p:nvSpPr>
          <p:spPr>
            <a:xfrm>
              <a:off x="4022" y="6289"/>
              <a:ext cx="13021" cy="1388"/>
            </a:xfrm>
            <a:prstGeom prst="rect">
              <a:avLst/>
            </a:prstGeom>
            <a:ln>
              <a:noFill/>
              <a:prstDash val="sysDash"/>
            </a:ln>
          </p:spPr>
          <p:txBody>
            <a:bodyPr vert="horz" wrap="square" lIns="0" tIns="0" rIns="0" bIns="0" rtlCol="0" anchor="t" anchorCtr="0">
              <a:normAutofit/>
            </a:bodyPr>
            <a:p>
              <a:pPr indent="-2286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>
                    <a:noFill/>
                    <a:prstDash val="sysDot"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 Более высокая ситуативная тревожность при тесте с ограничением времени приводит к снижению успеваемости.</a:t>
              </a:r>
              <a:endParaRPr lang="en-US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endParaRPr>
            </a:p>
          </p:txBody>
        </p:sp>
        <p:sp>
          <p:nvSpPr>
            <p:cNvPr id="75" name="矩形 32"/>
            <p:cNvSpPr/>
            <p:nvPr>
              <p:custDataLst>
                <p:tags r:id="rId11"/>
              </p:custDataLst>
            </p:nvPr>
          </p:nvSpPr>
          <p:spPr bwMode="auto">
            <a:xfrm>
              <a:off x="4022" y="8033"/>
              <a:ext cx="13021" cy="7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 anchorCtr="0">
              <a:normAutofit/>
            </a:bodyPr>
            <a:p>
              <a:pPr lvl="0" algn="l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sz="2000" b="1" i="1" dirty="0">
                  <a:ln>
                    <a:noFill/>
                    <a:prstDash val="sysDot"/>
                  </a:ln>
                  <a:solidFill>
                    <a:srgbClr val="0D7578"/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Гипотеза </a:t>
              </a:r>
              <a:r>
                <a:rPr lang="ru-RU" altLang="en-US" sz="2000" b="1" i="1" dirty="0">
                  <a:ln>
                    <a:noFill/>
                    <a:prstDash val="sysDot"/>
                  </a:ln>
                  <a:solidFill>
                    <a:srgbClr val="0D7578"/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3:</a:t>
              </a:r>
              <a:endParaRPr lang="ru-RU" altLang="en-US" sz="2000" b="1" i="1" dirty="0">
                <a:ln>
                  <a:noFill/>
                  <a:prstDash val="sysDot"/>
                </a:ln>
                <a:solidFill>
                  <a:srgbClr val="0D7578"/>
                </a:solidFill>
                <a:uFillTx/>
                <a:latin typeface="Arial" panose="020B0604020202020204" pitchFamily="34" charset="0"/>
                <a:sym typeface="Microsoft YaHei" panose="020B0503020204020204" charset="-122"/>
              </a:endParaRPr>
            </a:p>
          </p:txBody>
        </p:sp>
        <p:sp>
          <p:nvSpPr>
            <p:cNvPr id="76" name="矩形 8"/>
            <p:cNvSpPr/>
            <p:nvPr>
              <p:custDataLst>
                <p:tags r:id="rId12"/>
              </p:custDataLst>
            </p:nvPr>
          </p:nvSpPr>
          <p:spPr>
            <a:xfrm>
              <a:off x="4022" y="8785"/>
              <a:ext cx="13582" cy="1388"/>
            </a:xfrm>
            <a:prstGeom prst="rect">
              <a:avLst/>
            </a:prstGeom>
            <a:ln>
              <a:noFill/>
              <a:prstDash val="sysDash"/>
            </a:ln>
          </p:spPr>
          <p:txBody>
            <a:bodyPr vert="horz" wrap="square" lIns="0" tIns="0" rIns="0" bIns="0" rtlCol="0" anchor="t" anchorCtr="0">
              <a:noAutofit/>
            </a:bodyPr>
            <a:p>
              <a:pPr indent="-2286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ln>
                    <a:noFill/>
                    <a:prstDash val="sysDot"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 </a:t>
              </a:r>
              <a:r>
                <a:rPr lang="ru-RU" altLang="en-US" sz="1600">
                  <a:ln>
                    <a:noFill/>
                    <a:prstDash val="sysDot"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У </a:t>
              </a:r>
              <a:r>
                <a:rPr lang="en-US">
                  <a:ln>
                    <a:noFill/>
                    <a:prstDash val="sysDot"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sym typeface="Microsoft YaHei" panose="020B0503020204020204" charset="-122"/>
                </a:rPr>
                <a:t>учеников младшего возраста , у которых меньше опыта сдачи ограниченных по времени экзаменов , уровень ситуативной тревожности выше</a:t>
              </a:r>
              <a:endParaRPr lang="en-US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endParaRPr>
            </a:p>
          </p:txBody>
        </p:sp>
        <p:cxnSp>
          <p:nvCxnSpPr>
            <p:cNvPr id="77" name="直接连接符 14"/>
            <p:cNvCxnSpPr/>
            <p:nvPr>
              <p:custDataLst>
                <p:tags r:id="rId13"/>
              </p:custDataLst>
            </p:nvPr>
          </p:nvCxnSpPr>
          <p:spPr>
            <a:xfrm>
              <a:off x="2601" y="6554"/>
              <a:ext cx="0" cy="1260"/>
            </a:xfrm>
            <a:prstGeom prst="line">
              <a:avLst/>
            </a:prstGeom>
            <a:solidFill>
              <a:srgbClr val="00993F"/>
            </a:solidFill>
            <a:ln w="12700" cap="flat" cmpd="sng" algn="ctr">
              <a:solidFill>
                <a:srgbClr val="000000">
                  <a:alpha val="30000"/>
                </a:srgbClr>
              </a:solidFill>
              <a:prstDash val="sysDot"/>
              <a:miter lim="800000"/>
            </a:ln>
            <a:effectLst/>
          </p:spPr>
        </p:cxnSp>
      </p:grp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3600" b="1" i="1"/>
              <a:t>Целью</a:t>
            </a:r>
            <a:r>
              <a:rPr lang="ru-RU" altLang="en-US" sz="3600" b="1" i="1"/>
              <a:t> </a:t>
            </a:r>
            <a:r>
              <a:rPr lang="en-US" altLang="en-US"/>
              <a:t>данного</a:t>
            </a:r>
            <a:r>
              <a:rPr lang="en-US" altLang="ru-RU"/>
              <a:t> </a:t>
            </a:r>
            <a:r>
              <a:rPr lang="en-US" altLang="en-US"/>
              <a:t>исследования</a:t>
            </a:r>
            <a:r>
              <a:rPr lang="en-US" altLang="ru-RU"/>
              <a:t> </a:t>
            </a:r>
            <a:r>
              <a:rPr lang="en-US" altLang="en-US"/>
              <a:t>было</a:t>
            </a:r>
            <a:r>
              <a:rPr lang="en-US" altLang="ru-RU"/>
              <a:t> </a:t>
            </a:r>
            <a:r>
              <a:rPr lang="en-US" altLang="en-US"/>
              <a:t>изучить</a:t>
            </a:r>
            <a:r>
              <a:rPr lang="en-US" altLang="ru-RU"/>
              <a:t> </a:t>
            </a:r>
            <a:r>
              <a:rPr lang="en-US" altLang="en-US"/>
              <a:t>взаимосвязь</a:t>
            </a:r>
            <a:r>
              <a:rPr lang="en-US" altLang="ru-RU"/>
              <a:t> </a:t>
            </a:r>
            <a:r>
              <a:rPr lang="en-US" altLang="en-US"/>
              <a:t>ситуативной</a:t>
            </a:r>
            <a:r>
              <a:rPr lang="en-US" altLang="ru-RU"/>
              <a:t> </a:t>
            </a:r>
            <a:r>
              <a:rPr lang="en-US" altLang="en-US"/>
              <a:t>тревожности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экзаменов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тестов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ограниченным</a:t>
            </a:r>
            <a:r>
              <a:rPr lang="en-US" altLang="ru-RU"/>
              <a:t> </a:t>
            </a:r>
            <a:r>
              <a:rPr lang="en-US" altLang="en-US"/>
              <a:t>временем</a:t>
            </a:r>
            <a:r>
              <a:rPr lang="en-US" altLang="ru-RU"/>
              <a:t> 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также</a:t>
            </a:r>
            <a:r>
              <a:rPr lang="en-US" altLang="ru-RU"/>
              <a:t> </a:t>
            </a:r>
            <a:r>
              <a:rPr lang="en-US" altLang="en-US"/>
              <a:t>узнать</a:t>
            </a:r>
            <a:r>
              <a:rPr lang="en-US" altLang="ru-RU"/>
              <a:t> </a:t>
            </a:r>
            <a:r>
              <a:rPr lang="en-US" altLang="en-US"/>
              <a:t>уровень</a:t>
            </a:r>
            <a:r>
              <a:rPr lang="en-US" altLang="ru-RU"/>
              <a:t> </a:t>
            </a:r>
            <a:r>
              <a:rPr lang="en-US" altLang="en-US"/>
              <a:t>тревожности</a:t>
            </a:r>
            <a:r>
              <a:rPr lang="en-US" altLang="ru-RU"/>
              <a:t> </a:t>
            </a:r>
            <a:r>
              <a:rPr lang="en-US" altLang="en-US"/>
              <a:t>среди</a:t>
            </a:r>
            <a:r>
              <a:rPr lang="en-US" altLang="ru-RU"/>
              <a:t> </a:t>
            </a:r>
            <a:r>
              <a:rPr lang="en-US" altLang="en-US"/>
              <a:t>студентов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школьников</a:t>
            </a:r>
            <a:r>
              <a:rPr lang="en-US" altLang="ru-RU"/>
              <a:t>. </a:t>
            </a:r>
            <a:endParaRPr lang="en-US" altLang="ru-RU"/>
          </a:p>
        </p:txBody>
      </p:sp>
      <p:pic>
        <p:nvPicPr>
          <p:cNvPr id="4" name="Изображение 3" descr="奖章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6710" y="3851910"/>
            <a:ext cx="2139315" cy="21393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631825" y="1376680"/>
            <a:ext cx="6663055" cy="3143885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631825" y="666115"/>
            <a:ext cx="10233660" cy="710565"/>
          </a:xfrm>
          <a:prstGeom prst="roundRect">
            <a:avLst/>
          </a:prstGeom>
          <a:solidFill>
            <a:srgbClr val="A5CDD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4745990" y="3429000"/>
            <a:ext cx="6386830" cy="29495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1865" y="656545"/>
            <a:ext cx="10800000" cy="720000"/>
          </a:xfrm>
        </p:spPr>
        <p:txBody>
          <a:bodyPr>
            <a:normAutofit fontScale="90000"/>
          </a:bodyPr>
          <a:p>
            <a:r>
              <a:rPr lang="ru-RU" altLang="en-US"/>
              <a:t>Первый опрос для доказательства актуальности </a:t>
            </a:r>
            <a:endParaRPr lang="ru-RU" alt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Изображение 6" descr="photo_2026-04-06_17-15-13"/>
          <p:cNvPicPr>
            <a:picLocks noChangeAspect="1"/>
          </p:cNvPicPr>
          <p:nvPr/>
        </p:nvPicPr>
        <p:blipFill>
          <a:blip r:embed="rId1"/>
          <a:srcRect l="9562" t="4714" r="7488" b="6487"/>
          <a:stretch>
            <a:fillRect/>
          </a:stretch>
        </p:blipFill>
        <p:spPr>
          <a:xfrm>
            <a:off x="695960" y="3869690"/>
            <a:ext cx="7148195" cy="2550795"/>
          </a:xfrm>
          <a:prstGeom prst="rect">
            <a:avLst/>
          </a:prstGeom>
        </p:spPr>
      </p:pic>
      <p:sp>
        <p:nvSpPr>
          <p:cNvPr id="5" name="Скругленный прямоугольник 4"/>
          <p:cNvSpPr/>
          <p:nvPr/>
        </p:nvSpPr>
        <p:spPr>
          <a:xfrm>
            <a:off x="1216025" y="1061085"/>
            <a:ext cx="10916920" cy="2423795"/>
          </a:xfrm>
          <a:prstGeom prst="roundRect">
            <a:avLst/>
          </a:prstGeom>
          <a:solidFill>
            <a:srgbClr val="A5CDD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138430"/>
            <a:ext cx="10800080" cy="1080135"/>
          </a:xfrm>
        </p:spPr>
        <p:txBody>
          <a:bodyPr>
            <a:normAutofit fontScale="90000"/>
          </a:bodyPr>
          <a:p>
            <a:r>
              <a:rPr lang="ru-RU" altLang="en-US"/>
              <a:t>Обзор других исследований использованных при работе 1/3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466215" y="1327150"/>
            <a:ext cx="10523855" cy="2618105"/>
          </a:xfrm>
        </p:spPr>
        <p:txBody>
          <a:bodyPr>
            <a:normAutofit fontScale="90000"/>
          </a:bodyPr>
          <a:p>
            <a:pPr marL="0" indent="0" algn="l">
              <a:buNone/>
            </a:pPr>
            <a:r>
              <a:rPr lang="en-US" altLang="ru-RU" sz="1800"/>
              <a:t>Yang, Y., Wang, S. The relationship between exam anxiety, academic perforance and peer support among 9th grade students in Shenzhen, China. Curriculum &amp; Innovation, 2023, 1(1), 8-18. https://doi.org/10.61187/ci.v1i1.16 </a:t>
            </a:r>
            <a:endParaRPr lang="en-US" altLang="ru-RU" sz="1800"/>
          </a:p>
          <a:p>
            <a:pPr marL="0" indent="0" algn="ctr">
              <a:buNone/>
            </a:pPr>
            <a:r>
              <a:rPr lang="en-US" altLang="en-US" sz="1800"/>
              <a:t>направлено</a:t>
            </a:r>
            <a:r>
              <a:rPr lang="en-US" altLang="ru-RU" sz="1800"/>
              <a:t> </a:t>
            </a:r>
            <a:r>
              <a:rPr lang="en-US" altLang="en-US" sz="1800"/>
              <a:t>на</a:t>
            </a:r>
            <a:r>
              <a:rPr lang="en-US" altLang="ru-RU" sz="1800"/>
              <a:t> </a:t>
            </a:r>
            <a:r>
              <a:rPr lang="en-US" altLang="en-US" sz="1800"/>
              <a:t>изучение</a:t>
            </a:r>
            <a:r>
              <a:rPr lang="en-US" altLang="ru-RU" sz="1800"/>
              <a:t> </a:t>
            </a:r>
            <a:r>
              <a:rPr lang="en-US" altLang="en-US" sz="1800"/>
              <a:t>взаимосвязи</a:t>
            </a:r>
            <a:r>
              <a:rPr lang="en-US" altLang="ru-RU" sz="1800"/>
              <a:t> </a:t>
            </a:r>
            <a:r>
              <a:rPr lang="en-US" altLang="en-US" sz="1800"/>
              <a:t>между</a:t>
            </a:r>
            <a:r>
              <a:rPr lang="en-US" altLang="ru-RU" sz="1800"/>
              <a:t> </a:t>
            </a:r>
            <a:r>
              <a:rPr lang="en-US" altLang="en-US" sz="1800"/>
              <a:t>экзаменационной</a:t>
            </a:r>
            <a:r>
              <a:rPr lang="en-US" altLang="ru-RU" sz="1800"/>
              <a:t> </a:t>
            </a:r>
            <a:r>
              <a:rPr lang="en-US" altLang="en-US" sz="1800"/>
              <a:t>тревожностью</a:t>
            </a:r>
            <a:r>
              <a:rPr lang="en-US" altLang="ru-RU" sz="1800"/>
              <a:t>, </a:t>
            </a:r>
            <a:r>
              <a:rPr lang="en-US" altLang="en-US" sz="1800"/>
              <a:t>академической</a:t>
            </a:r>
            <a:r>
              <a:rPr lang="en-US" altLang="ru-RU" sz="1800"/>
              <a:t> </a:t>
            </a:r>
            <a:r>
              <a:rPr lang="en-US" altLang="en-US" sz="1800"/>
              <a:t>успеваемостью</a:t>
            </a:r>
            <a:r>
              <a:rPr lang="en-US" altLang="ru-RU" sz="1800"/>
              <a:t>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модераторной</a:t>
            </a:r>
            <a:r>
              <a:rPr lang="en-US" altLang="ru-RU" sz="1800"/>
              <a:t> </a:t>
            </a:r>
            <a:r>
              <a:rPr lang="en-US" altLang="en-US" sz="1800"/>
              <a:t>ролью</a:t>
            </a:r>
            <a:r>
              <a:rPr lang="en-US" altLang="ru-RU" sz="1800"/>
              <a:t> </a:t>
            </a:r>
            <a:r>
              <a:rPr lang="en-US" altLang="en-US" sz="1800"/>
              <a:t>поддержки</a:t>
            </a:r>
            <a:r>
              <a:rPr lang="en-US" altLang="ru-RU" sz="1800"/>
              <a:t> </a:t>
            </a:r>
            <a:r>
              <a:rPr lang="en-US" altLang="en-US" sz="1800"/>
              <a:t>со</a:t>
            </a:r>
            <a:r>
              <a:rPr lang="en-US" altLang="ru-RU" sz="1800"/>
              <a:t> </a:t>
            </a:r>
            <a:r>
              <a:rPr lang="en-US" altLang="en-US" sz="1800"/>
              <a:t>стороны</a:t>
            </a:r>
            <a:r>
              <a:rPr lang="en-US" altLang="ru-RU" sz="1800"/>
              <a:t> </a:t>
            </a:r>
            <a:r>
              <a:rPr lang="en-US" altLang="en-US" sz="1800"/>
              <a:t>сверстников</a:t>
            </a:r>
            <a:r>
              <a:rPr lang="en-US" altLang="ru-RU" sz="1800"/>
              <a:t> </a:t>
            </a:r>
            <a:r>
              <a:rPr lang="en-US" altLang="en-US" sz="1800"/>
              <a:t>в</a:t>
            </a:r>
            <a:r>
              <a:rPr lang="en-US" altLang="ru-RU" sz="1800"/>
              <a:t> </a:t>
            </a:r>
            <a:r>
              <a:rPr lang="en-US" altLang="en-US" sz="1800"/>
              <a:t>процессе</a:t>
            </a:r>
            <a:r>
              <a:rPr lang="en-US" altLang="ru-RU" sz="1800"/>
              <a:t> </a:t>
            </a:r>
            <a:r>
              <a:rPr lang="en-US" altLang="en-US" sz="1800"/>
              <a:t>обучения</a:t>
            </a:r>
            <a:r>
              <a:rPr lang="en-US" altLang="ru-RU" sz="1800"/>
              <a:t>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развития</a:t>
            </a:r>
            <a:r>
              <a:rPr lang="en-US" altLang="ru-RU" sz="1800"/>
              <a:t> </a:t>
            </a:r>
            <a:r>
              <a:rPr lang="en-US" altLang="en-US" sz="1800"/>
              <a:t>учащихся</a:t>
            </a:r>
            <a:r>
              <a:rPr lang="en-US" altLang="ru-RU" sz="1800"/>
              <a:t> 9-</a:t>
            </a:r>
            <a:r>
              <a:rPr lang="en-US" altLang="en-US" sz="1800"/>
              <a:t>х</a:t>
            </a:r>
            <a:r>
              <a:rPr lang="en-US" altLang="ru-RU" sz="1800"/>
              <a:t> </a:t>
            </a:r>
            <a:r>
              <a:rPr lang="en-US" altLang="en-US" sz="1800"/>
              <a:t>классов</a:t>
            </a:r>
            <a:r>
              <a:rPr lang="en-US" altLang="ru-RU" sz="1800"/>
              <a:t> </a:t>
            </a:r>
            <a:r>
              <a:rPr lang="en-US" altLang="en-US" sz="1800"/>
              <a:t>в</a:t>
            </a:r>
            <a:r>
              <a:rPr lang="en-US" altLang="ru-RU" sz="1800"/>
              <a:t> </a:t>
            </a:r>
            <a:r>
              <a:rPr lang="en-US" altLang="en-US" sz="1800"/>
              <a:t>Шэньчжэне</a:t>
            </a:r>
            <a:r>
              <a:rPr lang="en-US" altLang="ru-RU" sz="1800"/>
              <a:t> (</a:t>
            </a:r>
            <a:r>
              <a:rPr lang="en-US" altLang="en-US" sz="1800"/>
              <a:t>Китай</a:t>
            </a:r>
            <a:r>
              <a:rPr lang="en-US" altLang="ru-RU" sz="1800"/>
              <a:t>).</a:t>
            </a:r>
            <a:endParaRPr lang="en-US" altLang="ru-RU" sz="1800"/>
          </a:p>
          <a:p>
            <a:pPr marL="0" indent="0">
              <a:buNone/>
            </a:pPr>
            <a:endParaRPr lang="en-US" altLang="ru-RU" sz="1800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Изображение 4" descr="photo_2026-04-06_17-15-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495" y="843915"/>
            <a:ext cx="5471795" cy="3675380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628015" y="2875915"/>
            <a:ext cx="6280785" cy="3597910"/>
          </a:xfrm>
          <a:prstGeom prst="roundRect">
            <a:avLst/>
          </a:prstGeom>
          <a:solidFill>
            <a:srgbClr val="A5CDD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138430"/>
            <a:ext cx="10800080" cy="1080135"/>
          </a:xfrm>
        </p:spPr>
        <p:txBody>
          <a:bodyPr>
            <a:normAutofit fontScale="90000"/>
          </a:bodyPr>
          <a:p>
            <a:r>
              <a:rPr lang="ru-RU" altLang="en-US"/>
              <a:t>Обзор других исследований использованных при работе 2/3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3051175"/>
            <a:ext cx="6021070" cy="32480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00"/>
              <a:t>Э</a:t>
            </a:r>
            <a:r>
              <a:rPr lang="en-US" altLang="ru-RU" sz="1800"/>
              <a:t>.</a:t>
            </a:r>
            <a:r>
              <a:rPr lang="en-US" altLang="en-US" sz="1800"/>
              <a:t>А</a:t>
            </a:r>
            <a:r>
              <a:rPr lang="en-US" altLang="ru-RU" sz="1800"/>
              <a:t>. </a:t>
            </a:r>
            <a:r>
              <a:rPr lang="en-US" altLang="en-US" sz="1800"/>
              <a:t>Аликанова</a:t>
            </a:r>
            <a:r>
              <a:rPr lang="en-US" altLang="ru-RU" sz="1800"/>
              <a:t>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др</a:t>
            </a:r>
            <a:r>
              <a:rPr lang="en-US" altLang="ru-RU" sz="1800"/>
              <a:t>. “</a:t>
            </a:r>
            <a:r>
              <a:rPr lang="en-US" altLang="en-US" sz="1800"/>
              <a:t>Жоғары</a:t>
            </a:r>
            <a:r>
              <a:rPr lang="en-US" altLang="ru-RU" sz="1800"/>
              <a:t> </a:t>
            </a:r>
            <a:r>
              <a:rPr lang="en-US" altLang="en-US" sz="1800"/>
              <a:t>оқу</a:t>
            </a:r>
            <a:r>
              <a:rPr lang="en-US" altLang="ru-RU" sz="1800"/>
              <a:t> </a:t>
            </a:r>
            <a:r>
              <a:rPr lang="en-US" altLang="en-US" sz="1800"/>
              <a:t>орындарында</a:t>
            </a:r>
            <a:r>
              <a:rPr lang="en-US" altLang="ru-RU" sz="1800"/>
              <a:t> </a:t>
            </a:r>
            <a:r>
              <a:rPr lang="en-US" altLang="en-US" sz="1800"/>
              <a:t>білім</a:t>
            </a:r>
            <a:r>
              <a:rPr lang="en-US" altLang="ru-RU" sz="1800"/>
              <a:t> </a:t>
            </a:r>
            <a:r>
              <a:rPr lang="en-US" altLang="en-US" sz="1800"/>
              <a:t>алушылардың</a:t>
            </a:r>
            <a:r>
              <a:rPr lang="en-US" altLang="ru-RU" sz="1800"/>
              <a:t> </a:t>
            </a:r>
            <a:r>
              <a:rPr lang="en-US" altLang="en-US" sz="1800"/>
              <a:t>емтихандық</a:t>
            </a:r>
            <a:r>
              <a:rPr lang="en-US" altLang="ru-RU" sz="1800"/>
              <a:t> </a:t>
            </a:r>
            <a:r>
              <a:rPr lang="en-US" altLang="en-US" sz="1800"/>
              <a:t>сессия</a:t>
            </a:r>
            <a:r>
              <a:rPr lang="en-US" altLang="ru-RU" sz="1800"/>
              <a:t> </a:t>
            </a:r>
            <a:r>
              <a:rPr lang="en-US" altLang="en-US" sz="1800"/>
              <a:t>кезіндегі</a:t>
            </a:r>
            <a:r>
              <a:rPr lang="en-US" altLang="ru-RU" sz="1800"/>
              <a:t> </a:t>
            </a:r>
            <a:r>
              <a:rPr lang="en-US" altLang="en-US" sz="1800"/>
              <a:t>мазасыздығының</a:t>
            </a:r>
            <a:r>
              <a:rPr lang="en-US" altLang="ru-RU" sz="1800"/>
              <a:t> </a:t>
            </a:r>
            <a:r>
              <a:rPr lang="en-US" altLang="en-US" sz="1800"/>
              <a:t>психологиялық</a:t>
            </a:r>
            <a:r>
              <a:rPr lang="en-US" altLang="ru-RU" sz="1800"/>
              <a:t> </a:t>
            </a:r>
            <a:r>
              <a:rPr lang="en-US" altLang="en-US" sz="1800"/>
              <a:t>ерекшеліктері</a:t>
            </a:r>
            <a:r>
              <a:rPr lang="en-US" altLang="ru-RU" sz="1800"/>
              <a:t>”</a:t>
            </a:r>
            <a:endParaRPr lang="en-US" altLang="ru-RU" sz="1800"/>
          </a:p>
          <a:p>
            <a:pPr marL="0" indent="0">
              <a:buNone/>
            </a:pPr>
            <a:r>
              <a:rPr lang="en-US" altLang="ru-RU" sz="1800"/>
              <a:t>https://doi.org/10.32523/3080-1893-2025-152-3-93-111 </a:t>
            </a:r>
            <a:endParaRPr lang="en-US" altLang="ru-RU" sz="1800"/>
          </a:p>
          <a:p>
            <a:pPr marL="0" indent="0">
              <a:buNone/>
            </a:pPr>
            <a:r>
              <a:rPr lang="en-US" altLang="ru-RU" sz="1800"/>
              <a:t> </a:t>
            </a:r>
            <a:r>
              <a:rPr lang="en-US" altLang="en-US" sz="1800"/>
              <a:t>рассматриваются</a:t>
            </a:r>
            <a:r>
              <a:rPr lang="en-US" altLang="ru-RU" sz="1800"/>
              <a:t> </a:t>
            </a:r>
            <a:r>
              <a:rPr lang="en-US" altLang="en-US" sz="1800"/>
              <a:t>особенности</a:t>
            </a:r>
            <a:r>
              <a:rPr lang="en-US" altLang="ru-RU" sz="1800"/>
              <a:t> </a:t>
            </a:r>
            <a:r>
              <a:rPr lang="en-US" altLang="en-US" sz="1800"/>
              <a:t>психологической</a:t>
            </a:r>
            <a:r>
              <a:rPr lang="en-US" altLang="ru-RU" sz="1800"/>
              <a:t> </a:t>
            </a:r>
            <a:r>
              <a:rPr lang="en-US" altLang="en-US" sz="1800"/>
              <a:t>тревожности</a:t>
            </a:r>
            <a:r>
              <a:rPr lang="en-US" altLang="ru-RU" sz="1800"/>
              <a:t> </a:t>
            </a:r>
            <a:r>
              <a:rPr lang="en-US" altLang="en-US" sz="1800"/>
              <a:t>студентов</a:t>
            </a:r>
            <a:r>
              <a:rPr lang="en-US" altLang="ru-RU" sz="1800"/>
              <a:t> </a:t>
            </a:r>
            <a:r>
              <a:rPr lang="en-US" altLang="en-US" sz="1800"/>
              <a:t>вузов</a:t>
            </a:r>
            <a:r>
              <a:rPr lang="en-US" altLang="ru-RU" sz="1800"/>
              <a:t> </a:t>
            </a:r>
            <a:r>
              <a:rPr lang="en-US" altLang="en-US" sz="1800"/>
              <a:t>в</a:t>
            </a:r>
            <a:r>
              <a:rPr lang="en-US" altLang="ru-RU" sz="1800"/>
              <a:t> </a:t>
            </a:r>
            <a:r>
              <a:rPr lang="en-US" altLang="en-US" sz="1800"/>
              <a:t>период</a:t>
            </a:r>
            <a:r>
              <a:rPr lang="en-US" altLang="ru-RU" sz="1800"/>
              <a:t> </a:t>
            </a:r>
            <a:r>
              <a:rPr lang="en-US" altLang="en-US" sz="1800"/>
              <a:t>экзаменационной</a:t>
            </a:r>
            <a:r>
              <a:rPr lang="en-US" altLang="ru-RU" sz="1800"/>
              <a:t> </a:t>
            </a:r>
            <a:r>
              <a:rPr lang="en-US" altLang="en-US" sz="1800"/>
              <a:t>сессии</a:t>
            </a:r>
            <a:r>
              <a:rPr lang="en-US" altLang="ru-RU" sz="1800"/>
              <a:t>.</a:t>
            </a:r>
            <a:endParaRPr lang="en-US" altLang="ru-RU" sz="1800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 descr="C:/Users/boris/Downloads/Telegram Desktop/photo_2026-04-06_17-15-17.jpgphoto_2026-04-06_17-15-17"/>
          <p:cNvPicPr>
            <a:picLocks noChangeAspect="1"/>
          </p:cNvPicPr>
          <p:nvPr/>
        </p:nvPicPr>
        <p:blipFill>
          <a:blip r:embed="rId1"/>
          <a:srcRect l="8168" r="8168"/>
          <a:stretch>
            <a:fillRect/>
          </a:stretch>
        </p:blipFill>
        <p:spPr>
          <a:xfrm>
            <a:off x="6021070" y="2788285"/>
            <a:ext cx="5764530" cy="3872230"/>
          </a:xfrm>
          <a:prstGeom prst="rect">
            <a:avLst/>
          </a:prstGeom>
        </p:spPr>
      </p:pic>
      <p:sp>
        <p:nvSpPr>
          <p:cNvPr id="5" name="Скругленный прямоугольник 4"/>
          <p:cNvSpPr/>
          <p:nvPr/>
        </p:nvSpPr>
        <p:spPr>
          <a:xfrm>
            <a:off x="593090" y="1234440"/>
            <a:ext cx="6280785" cy="3597910"/>
          </a:xfrm>
          <a:prstGeom prst="roundRect">
            <a:avLst/>
          </a:prstGeom>
          <a:solidFill>
            <a:srgbClr val="A5CDD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138430"/>
            <a:ext cx="10800080" cy="1080135"/>
          </a:xfrm>
        </p:spPr>
        <p:txBody>
          <a:bodyPr>
            <a:normAutofit fontScale="90000"/>
          </a:bodyPr>
          <a:p>
            <a:r>
              <a:rPr lang="ru-RU" altLang="en-US"/>
              <a:t>Обзор других исследований использованных при работе 3/3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82320" y="1218565"/>
            <a:ext cx="6296025" cy="397637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ru-RU" sz="1800"/>
              <a:t>“</a:t>
            </a:r>
            <a:r>
              <a:rPr lang="en-US" altLang="en-US" sz="1800"/>
              <a:t>Изменение</a:t>
            </a:r>
            <a:r>
              <a:rPr lang="en-US" altLang="ru-RU" sz="1800"/>
              <a:t> </a:t>
            </a:r>
            <a:r>
              <a:rPr lang="en-US" altLang="en-US" sz="1800"/>
              <a:t>ситуативной</a:t>
            </a:r>
            <a:r>
              <a:rPr lang="en-US" altLang="ru-RU" sz="1800"/>
              <a:t> </a:t>
            </a:r>
            <a:r>
              <a:rPr lang="en-US" altLang="en-US" sz="1800"/>
              <a:t>тревожности</a:t>
            </a:r>
            <a:r>
              <a:rPr lang="en-US" altLang="ru-RU" sz="1800"/>
              <a:t> , </a:t>
            </a:r>
            <a:r>
              <a:rPr lang="en-US" altLang="en-US" sz="1800"/>
              <a:t>самочувствия</a:t>
            </a:r>
            <a:r>
              <a:rPr lang="en-US" altLang="ru-RU" sz="1800"/>
              <a:t> , </a:t>
            </a:r>
            <a:r>
              <a:rPr lang="en-US" altLang="en-US" sz="1800"/>
              <a:t>активности</a:t>
            </a:r>
            <a:r>
              <a:rPr lang="en-US" altLang="ru-RU" sz="1800"/>
              <a:t>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настроения</a:t>
            </a:r>
            <a:r>
              <a:rPr lang="en-US" altLang="ru-RU" sz="1800"/>
              <a:t> </a:t>
            </a:r>
            <a:r>
              <a:rPr lang="en-US" altLang="en-US" sz="1800"/>
              <a:t>перед</a:t>
            </a:r>
            <a:r>
              <a:rPr lang="en-US" altLang="ru-RU" sz="1800"/>
              <a:t> </a:t>
            </a:r>
            <a:r>
              <a:rPr lang="en-US" altLang="en-US" sz="1800"/>
              <a:t>школьными</a:t>
            </a:r>
            <a:r>
              <a:rPr lang="en-US" altLang="ru-RU" sz="1800"/>
              <a:t> </a:t>
            </a:r>
            <a:r>
              <a:rPr lang="en-US" altLang="en-US" sz="1800"/>
              <a:t>выпускными</a:t>
            </a:r>
            <a:r>
              <a:rPr lang="en-US" altLang="ru-RU" sz="1800"/>
              <a:t> </a:t>
            </a:r>
            <a:r>
              <a:rPr lang="en-US" altLang="en-US" sz="1800"/>
              <a:t>экзаменами</a:t>
            </a:r>
            <a:r>
              <a:rPr lang="en-US" altLang="ru-RU" sz="1800"/>
              <a:t>” </a:t>
            </a:r>
            <a:r>
              <a:rPr lang="en-US" altLang="en-US" sz="1800"/>
              <a:t>Яблочкина</a:t>
            </a:r>
            <a:r>
              <a:rPr lang="en-US" altLang="ru-RU" sz="1800"/>
              <a:t> </a:t>
            </a:r>
            <a:r>
              <a:rPr lang="en-US" altLang="en-US" sz="1800"/>
              <a:t>Е</a:t>
            </a:r>
            <a:r>
              <a:rPr lang="en-US" altLang="ru-RU" sz="1800"/>
              <a:t>.</a:t>
            </a:r>
            <a:r>
              <a:rPr lang="en-US" altLang="en-US" sz="1800"/>
              <a:t>С</a:t>
            </a:r>
            <a:r>
              <a:rPr lang="en-US" altLang="ru-RU" sz="1800"/>
              <a:t>. </a:t>
            </a:r>
            <a:endParaRPr lang="en-US" altLang="ru-RU" sz="1800"/>
          </a:p>
          <a:p>
            <a:pPr marL="0" indent="0">
              <a:buNone/>
            </a:pPr>
            <a:r>
              <a:rPr lang="en-US" altLang="ru-RU" sz="1800"/>
              <a:t>ISBN 978-5-9907919-2-3.</a:t>
            </a:r>
            <a:endParaRPr lang="en-US" altLang="ru-RU" sz="1800"/>
          </a:p>
          <a:p>
            <a:pPr marL="0" indent="0">
              <a:buNone/>
            </a:pPr>
            <a:r>
              <a:rPr lang="en-US" altLang="ru-RU" sz="1800"/>
              <a:t> </a:t>
            </a:r>
            <a:r>
              <a:rPr lang="ru-RU" altLang="en-US" sz="1800"/>
              <a:t>это исследование рассматривает разницу в уровне тревожности и самочувствия между началом 4 четверти и временем перед экзаменами </a:t>
            </a:r>
            <a:endParaRPr lang="en-US" altLang="ru-RU" sz="1800"/>
          </a:p>
          <a:p>
            <a:pPr marL="0" indent="0">
              <a:buNone/>
            </a:pPr>
            <a:endParaRPr lang="en-US" altLang="ru-RU" sz="1800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Прямоугольник 17"/>
          <p:cNvSpPr/>
          <p:nvPr/>
        </p:nvSpPr>
        <p:spPr>
          <a:xfrm>
            <a:off x="9550400" y="4749800"/>
            <a:ext cx="1945640" cy="837565"/>
          </a:xfrm>
          <a:prstGeom prst="rect">
            <a:avLst/>
          </a:prstGeom>
          <a:solidFill>
            <a:srgbClr val="CA9C9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Второй опросник :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10800080" cy="1454150"/>
          </a:xfrm>
        </p:spPr>
        <p:txBody>
          <a:bodyPr/>
          <a:p>
            <a:r>
              <a:rPr lang="en-US" altLang="ru-RU"/>
              <a:t>Zung,  W.  W.</a:t>
            </a:r>
            <a:r>
              <a:rPr lang="ru-RU" altLang="en-US"/>
              <a:t> </a:t>
            </a:r>
            <a:r>
              <a:rPr lang="en-US" altLang="ru-RU"/>
              <a:t>“Self-Rating Anxiety Scale”</a:t>
            </a:r>
            <a:endParaRPr lang="en-US" altLang="ru-RU"/>
          </a:p>
          <a:p>
            <a:r>
              <a:rPr lang="en-US" altLang="ru-RU"/>
              <a:t>Spielberger C. D. “The State-Trait Anxiety Inventory”</a:t>
            </a:r>
            <a:endParaRPr lang="en-US" altLang="ru-RU"/>
          </a:p>
          <a:p>
            <a:endParaRPr lang="en-US" altLang="ru-RU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36930" y="3083560"/>
            <a:ext cx="4613910" cy="338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/>
              <a:t>Ответы на тесты были </a:t>
            </a:r>
            <a:endParaRPr lang="ru-RU" altLang="en-US"/>
          </a:p>
          <a:p>
            <a:r>
              <a:rPr lang="ru-RU" altLang="en-US"/>
              <a:t>оценены:</a:t>
            </a:r>
            <a:endParaRPr lang="ru-RU" altLang="en-US"/>
          </a:p>
          <a:p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Всегда 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часто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иногда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никогда </a:t>
            </a:r>
            <a:endParaRPr lang="ru-RU" altLang="en-US"/>
          </a:p>
        </p:txBody>
      </p:sp>
      <p:sp>
        <p:nvSpPr>
          <p:cNvPr id="5" name="Стрелка вправо 4"/>
          <p:cNvSpPr/>
          <p:nvPr/>
        </p:nvSpPr>
        <p:spPr>
          <a:xfrm>
            <a:off x="2227580" y="3910965"/>
            <a:ext cx="721995" cy="2590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3320415" y="3910965"/>
            <a:ext cx="6153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4</a:t>
            </a:r>
            <a:endParaRPr lang="ru-RU" altLang="en-US"/>
          </a:p>
          <a:p>
            <a:endParaRPr lang="ru-RU" altLang="en-US"/>
          </a:p>
          <a:p>
            <a:r>
              <a:rPr lang="ru-RU" altLang="en-US"/>
              <a:t>3</a:t>
            </a:r>
            <a:endParaRPr lang="ru-RU" altLang="en-US"/>
          </a:p>
          <a:p>
            <a:endParaRPr lang="ru-RU" altLang="en-US"/>
          </a:p>
          <a:p>
            <a:r>
              <a:rPr lang="ru-RU" altLang="en-US"/>
              <a:t>2</a:t>
            </a:r>
            <a:endParaRPr lang="ru-RU" altLang="en-US"/>
          </a:p>
          <a:p>
            <a:endParaRPr lang="ru-RU" altLang="en-US"/>
          </a:p>
          <a:p>
            <a:r>
              <a:rPr lang="ru-RU" altLang="en-US"/>
              <a:t>1</a:t>
            </a:r>
            <a:endParaRPr lang="ru-RU" altLang="en-US"/>
          </a:p>
        </p:txBody>
      </p:sp>
      <p:sp>
        <p:nvSpPr>
          <p:cNvPr id="7" name="Стрелка вправо 6"/>
          <p:cNvSpPr/>
          <p:nvPr/>
        </p:nvSpPr>
        <p:spPr>
          <a:xfrm>
            <a:off x="2227580" y="4490720"/>
            <a:ext cx="721995" cy="2590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Стрелка вправо 7"/>
          <p:cNvSpPr/>
          <p:nvPr/>
        </p:nvSpPr>
        <p:spPr>
          <a:xfrm>
            <a:off x="2227580" y="5070475"/>
            <a:ext cx="721995" cy="2590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9" name="Стрелка вправо 8"/>
          <p:cNvSpPr/>
          <p:nvPr/>
        </p:nvSpPr>
        <p:spPr>
          <a:xfrm>
            <a:off x="2227580" y="5582920"/>
            <a:ext cx="721995" cy="2590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4829175" y="3083560"/>
            <a:ext cx="4064000" cy="2955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/>
              <a:t>также был один вопрос с инверсионным оцениванием:</a:t>
            </a:r>
            <a:endParaRPr lang="ru-RU" altLang="en-US"/>
          </a:p>
          <a:p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Никогда 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иногда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часто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всегда </a:t>
            </a:r>
            <a:endParaRPr lang="ru-RU" altLang="en-US"/>
          </a:p>
          <a:p>
            <a:pPr indent="0">
              <a:buFont typeface="Arial" panose="020B0604020202020204" pitchFamily="34" charset="0"/>
              <a:buNone/>
            </a:pPr>
            <a:endParaRPr lang="ru-RU" altLang="en-US"/>
          </a:p>
        </p:txBody>
      </p:sp>
      <p:sp>
        <p:nvSpPr>
          <p:cNvPr id="11" name="Стрелка вправо 10"/>
          <p:cNvSpPr/>
          <p:nvPr/>
        </p:nvSpPr>
        <p:spPr>
          <a:xfrm rot="10800000">
            <a:off x="4021455" y="4490720"/>
            <a:ext cx="721995" cy="259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Стрелка вправо 12"/>
          <p:cNvSpPr/>
          <p:nvPr/>
        </p:nvSpPr>
        <p:spPr>
          <a:xfrm rot="10800000">
            <a:off x="4021455" y="3910965"/>
            <a:ext cx="721995" cy="259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Стрелка вправо 13"/>
          <p:cNvSpPr/>
          <p:nvPr/>
        </p:nvSpPr>
        <p:spPr>
          <a:xfrm rot="10800000">
            <a:off x="4021455" y="5070475"/>
            <a:ext cx="721995" cy="259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5" name="Стрелка вправо 14"/>
          <p:cNvSpPr/>
          <p:nvPr/>
        </p:nvSpPr>
        <p:spPr>
          <a:xfrm rot="10800000">
            <a:off x="4021455" y="5582920"/>
            <a:ext cx="721995" cy="259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6" name="Прямоугольник 15"/>
          <p:cNvSpPr/>
          <p:nvPr/>
        </p:nvSpPr>
        <p:spPr>
          <a:xfrm>
            <a:off x="7538085" y="4709160"/>
            <a:ext cx="3957955" cy="873125"/>
          </a:xfrm>
          <a:prstGeom prst="rect">
            <a:avLst/>
          </a:prstGeom>
          <a:noFill/>
          <a:ln w="762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7538085" y="3969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Результаты </a:t>
            </a:r>
            <a:endParaRPr lang="ru-RU" altLang="en-US"/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7479665" y="4359910"/>
            <a:ext cx="4121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18                 35              72</a:t>
            </a:r>
            <a:endParaRPr lang="ru-RU" altLang="en-US"/>
          </a:p>
        </p:txBody>
      </p:sp>
      <p:sp>
        <p:nvSpPr>
          <p:cNvPr id="20" name="Текстовое поле 19"/>
          <p:cNvSpPr txBox="1"/>
          <p:nvPr/>
        </p:nvSpPr>
        <p:spPr>
          <a:xfrm>
            <a:off x="9670415" y="4845685"/>
            <a:ext cx="170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rgbClr val="C00000"/>
                </a:solidFill>
              </a:rPr>
              <a:t>повышенная </a:t>
            </a:r>
            <a:endParaRPr lang="ru-RU" altLang="en-US">
              <a:solidFill>
                <a:srgbClr val="C0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Диаграмма 3"/>
          <p:cNvGraphicFramePr/>
          <p:nvPr/>
        </p:nvGraphicFramePr>
        <p:xfrm>
          <a:off x="2762885" y="2047240"/>
          <a:ext cx="8399145" cy="4473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Текстовое поле 1"/>
          <p:cNvSpPr txBox="1"/>
          <p:nvPr/>
        </p:nvSpPr>
        <p:spPr>
          <a:xfrm>
            <a:off x="2110740" y="692150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/>
              <a:t>Результаты опроса 1/3</a:t>
            </a:r>
            <a:endParaRPr lang="ru-RU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Диаграмма 2" descr="7b0a202020202263686172745265734964223a20223230343732313936220a7d0a"/>
          <p:cNvGraphicFramePr/>
          <p:nvPr/>
        </p:nvGraphicFramePr>
        <p:xfrm>
          <a:off x="1215390" y="1338580"/>
          <a:ext cx="9109710" cy="4617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Текстовое поле 1"/>
          <p:cNvSpPr txBox="1"/>
          <p:nvPr/>
        </p:nvSpPr>
        <p:spPr>
          <a:xfrm>
            <a:off x="1978025" y="292735"/>
            <a:ext cx="43173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ym typeface="+mn-ea"/>
              </a:rPr>
              <a:t>Результаты опроса 2/3</a:t>
            </a:r>
            <a:endParaRPr lang="ru-RU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Таблица 1"/>
          <p:cNvGraphicFramePr/>
          <p:nvPr/>
        </p:nvGraphicFramePr>
        <p:xfrm>
          <a:off x="2077720" y="1777365"/>
          <a:ext cx="8758555" cy="3341370"/>
        </p:xfrm>
        <a:graphic>
          <a:graphicData uri="http://schemas.openxmlformats.org/drawingml/2006/table">
            <a:tbl>
              <a:tblPr/>
              <a:tblGrid>
                <a:gridCol w="1895475"/>
                <a:gridCol w="2019935"/>
                <a:gridCol w="1771015"/>
                <a:gridCol w="3072130"/>
              </a:tblGrid>
              <a:tr h="1555750"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Возрастная группа </a:t>
                      </a:r>
                      <a:endParaRPr lang="en-US" altLang="zh-CN" sz="2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5CDD1"/>
                    </a:solidFill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Балл выше 35 </a:t>
                      </a:r>
                      <a:endParaRPr lang="en-US" altLang="zh-CN" sz="2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5CDD1"/>
                    </a:solidFill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Балл ниже 35 </a:t>
                      </a:r>
                      <a:endParaRPr lang="en-US" altLang="zh-CN" sz="2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5CDD1"/>
                    </a:solidFill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Общее кол</a:t>
                      </a:r>
                      <a:r>
                        <a:rPr lang="ru-RU" altLang="en-US" sz="2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-во респондентов</a:t>
                      </a:r>
                      <a:endParaRPr lang="ru-RU" altLang="en-US" sz="2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5CDD1"/>
                    </a:solidFill>
                  </a:tcPr>
                </a:tc>
              </a:tr>
              <a:tr h="892175"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14-16</a:t>
                      </a:r>
                      <a:endParaRPr lang="en-US" altLang="zh-CN" sz="2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17(55%)</a:t>
                      </a:r>
                      <a:endParaRPr lang="en-US" altLang="zh-CN" sz="2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14 (45%)</a:t>
                      </a:r>
                      <a:endParaRPr lang="en-US" altLang="zh-CN" sz="2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31</a:t>
                      </a:r>
                      <a:endParaRPr lang="en-US" altLang="zh-CN" sz="2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3445"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19-21 </a:t>
                      </a:r>
                      <a:endParaRPr lang="en-US" altLang="zh-CN" sz="2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20(5</a:t>
                      </a:r>
                      <a:r>
                        <a:rPr lang="ru-RU" altLang="en-US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%)</a:t>
                      </a:r>
                      <a:endParaRPr lang="en-US" altLang="zh-CN" sz="2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ru-RU" altLang="en-US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(4</a:t>
                      </a:r>
                      <a:r>
                        <a:rPr lang="ru-RU" altLang="en-US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%)</a:t>
                      </a:r>
                      <a:endParaRPr lang="en-US" altLang="zh-CN" sz="2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  <a:r>
                        <a:rPr lang="ru-RU" altLang="en-US" sz="2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</a:t>
                      </a:r>
                      <a:endParaRPr lang="ru-RU" altLang="en-US" sz="2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Текстовое поле 2"/>
          <p:cNvSpPr txBox="1"/>
          <p:nvPr/>
        </p:nvSpPr>
        <p:spPr>
          <a:xfrm>
            <a:off x="2226310" y="292735"/>
            <a:ext cx="36068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ym typeface="+mn-ea"/>
              </a:rPr>
              <a:t>Результаты опроса 3/3</a:t>
            </a:r>
            <a:endParaRPr lang="ru-RU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Прямоугольная выноска 4"/>
          <p:cNvSpPr/>
          <p:nvPr/>
        </p:nvSpPr>
        <p:spPr>
          <a:xfrm>
            <a:off x="6544310" y="2908300"/>
            <a:ext cx="4664075" cy="3109595"/>
          </a:xfrm>
          <a:prstGeom prst="wedgeRectCallout">
            <a:avLst>
              <a:gd name="adj1" fmla="val -72464"/>
              <a:gd name="adj2" fmla="val -57208"/>
            </a:avLst>
          </a:prstGeom>
          <a:solidFill>
            <a:srgbClr val="AECD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94055" y="701040"/>
            <a:ext cx="5072380" cy="27279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6682740" y="3046730"/>
            <a:ext cx="4223385" cy="2833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/>
              <a:t>выводы : </a:t>
            </a:r>
            <a:endParaRPr lang="ru-RU" altLang="en-US"/>
          </a:p>
          <a:p>
            <a:r>
              <a:rPr lang="ru-RU" altLang="en-US"/>
              <a:t>Гипотеза была доказана путём двух опросов , показав , что при тестах с ограничением времени высокий уровень тревожности встречается значительно чаще чем на тестах без ограничения времени </a:t>
            </a:r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672465" y="760095"/>
            <a:ext cx="5093970" cy="1369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i="1" dirty="0">
                <a:ln>
                  <a:noFill/>
                  <a:prstDash val="sysDot"/>
                </a:ln>
                <a:solidFill>
                  <a:schemeClr val="bg1"/>
                </a:solidFill>
                <a:latin typeface="Arial" panose="020B0604020202020204" pitchFamily="34" charset="0"/>
                <a:sym typeface="Microsoft YaHei" panose="020B0503020204020204" charset="-122"/>
              </a:rPr>
              <a:t>Экзамены с ограничением времени вызывают большую ситуативную тревожность, чем те же задания без ограничения времени.</a:t>
            </a:r>
            <a:endParaRPr lang="en-US" sz="2800" b="1" i="1" dirty="0">
              <a:ln>
                <a:noFill/>
                <a:prstDash val="sysDot"/>
              </a:ln>
              <a:solidFill>
                <a:schemeClr val="bg1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  <a:p>
            <a:endParaRPr lang="en-US" altLang="en-US" sz="2800" b="1" i="1" dirty="0">
              <a:ln>
                <a:noFill/>
                <a:prstDash val="sysDot"/>
              </a:ln>
              <a:solidFill>
                <a:schemeClr val="bg1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Прямоугольная выноска 4"/>
          <p:cNvSpPr/>
          <p:nvPr/>
        </p:nvSpPr>
        <p:spPr>
          <a:xfrm>
            <a:off x="6578600" y="2611120"/>
            <a:ext cx="4763135" cy="3411220"/>
          </a:xfrm>
          <a:prstGeom prst="wedgeRectCallout">
            <a:avLst>
              <a:gd name="adj1" fmla="val -72464"/>
              <a:gd name="adj2" fmla="val -57208"/>
            </a:avLst>
          </a:prstGeom>
          <a:solidFill>
            <a:srgbClr val="AECD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45820" y="656590"/>
            <a:ext cx="4902200" cy="28155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946785" y="610870"/>
            <a:ext cx="50488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ln>
                  <a:noFill/>
                  <a:prstDash val="sysDot"/>
                </a:ln>
                <a:solidFill>
                  <a:schemeClr val="bg1"/>
                </a:solidFill>
                <a:latin typeface="Arial" panose="020B0604020202020204" pitchFamily="34" charset="0"/>
                <a:sym typeface="Microsoft YaHei" panose="020B0503020204020204" charset="-122"/>
              </a:rPr>
              <a:t>Более высокая ситуативная тревожность при тесте с ограничением времени приводит к снижению успеваемости.</a:t>
            </a:r>
            <a:endParaRPr lang="en-US" altLang="en-US" sz="2400" b="1" i="1" dirty="0">
              <a:ln>
                <a:noFill/>
                <a:prstDash val="sysDot"/>
              </a:ln>
              <a:solidFill>
                <a:schemeClr val="bg1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6814185" y="282956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Гипотеза доказана посредством опросов ,которые доказали , что 38,9% опрошенных подтвердили , что высокая тревожность отрицательно влияет на их результаты . </a:t>
            </a:r>
            <a:endParaRPr lang="ru-RU" altLang="en-US"/>
          </a:p>
          <a:p>
            <a:r>
              <a:rPr lang="ru-RU" altLang="en-US"/>
              <a:t>Также 41,2 %  указали на то , что тревожность не дала им показать реальные знания</a:t>
            </a:r>
            <a:endParaRPr lang="ru-RU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Прямоугольная выноска 4"/>
          <p:cNvSpPr/>
          <p:nvPr/>
        </p:nvSpPr>
        <p:spPr>
          <a:xfrm>
            <a:off x="6370955" y="2327275"/>
            <a:ext cx="4664075" cy="4346575"/>
          </a:xfrm>
          <a:prstGeom prst="wedgeRectCallout">
            <a:avLst>
              <a:gd name="adj1" fmla="val -71130"/>
              <a:gd name="adj2" fmla="val -40036"/>
            </a:avLst>
          </a:prstGeom>
          <a:solidFill>
            <a:srgbClr val="AECD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031875" y="656590"/>
            <a:ext cx="4503420" cy="2773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1132840" y="656590"/>
            <a:ext cx="4301490" cy="2952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2400" b="1" i="1">
                <a:ln>
                  <a:noFill/>
                  <a:prstDash val="sysDot"/>
                </a:ln>
                <a:solidFill>
                  <a:schemeClr val="bg1"/>
                </a:solidFill>
                <a:latin typeface="Arial" panose="020B0604020202020204" pitchFamily="34" charset="0"/>
                <a:sym typeface="Microsoft YaHei" panose="020B0503020204020204" charset="-122"/>
              </a:rPr>
              <a:t>У </a:t>
            </a:r>
            <a:r>
              <a:rPr lang="en-US" sz="2400" b="1" i="1">
                <a:ln>
                  <a:noFill/>
                  <a:prstDash val="sysDot"/>
                </a:ln>
                <a:solidFill>
                  <a:schemeClr val="bg1"/>
                </a:solidFill>
                <a:latin typeface="Arial" panose="020B0604020202020204" pitchFamily="34" charset="0"/>
                <a:sym typeface="Microsoft YaHei" panose="020B0503020204020204" charset="-122"/>
              </a:rPr>
              <a:t>учеников младшего возраста , у которых меньше опыта сдачи ограниченных по времени экзаменов , уровень ситуативной тревожности выше</a:t>
            </a:r>
            <a:endParaRPr lang="en-US" sz="2400" b="1" i="1">
              <a:ln>
                <a:noFill/>
                <a:prstDash val="sysDot"/>
              </a:ln>
              <a:solidFill>
                <a:schemeClr val="bg1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  <a:p>
            <a:endParaRPr lang="en-US" altLang="en-US" sz="2400" b="1" i="1">
              <a:ln>
                <a:noFill/>
                <a:prstDash val="sysDot"/>
              </a:ln>
              <a:solidFill>
                <a:schemeClr val="bg1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6370955" y="2427605"/>
            <a:ext cx="457835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Эта гипотеза также была подтверждена. Результаты анкетирования доказали , что 55% респондентов возраста 14-16 лет сталкиваются с высоким уровнем тревожности , тогда как среди респондентов возраста 19-21 года , всего 54% столкнулись с высокой тревожностью , что доказывает , хоть и не значительную , но разницу в частоте высокой тревожности среди учащихся , показывая что среди молодых респондентов она встречается чаще.</a:t>
            </a:r>
            <a:endParaRPr lang="ru-RU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Скругленный прямоугольник 3"/>
          <p:cNvSpPr/>
          <p:nvPr/>
        </p:nvSpPr>
        <p:spPr>
          <a:xfrm>
            <a:off x="1116330" y="1355090"/>
            <a:ext cx="5464810" cy="5369560"/>
          </a:xfrm>
          <a:prstGeom prst="roundRect">
            <a:avLst/>
          </a:prstGeom>
          <a:solidFill>
            <a:srgbClr val="AECD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1410970" y="1579245"/>
            <a:ext cx="5012055" cy="5054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/>
              <a:t>в итоге было показано , что большой процент опрошенных сталкивается с повышенной тревожностью от тестов и экзаменов . </a:t>
            </a:r>
            <a:endParaRPr lang="ru-RU" altLang="en-US"/>
          </a:p>
          <a:p>
            <a:r>
              <a:rPr lang="ru-RU" altLang="en-US"/>
              <a:t>рекомендацией к понижению ситуативной тревожности может стать пробные задания с ограничением времени , для привыкания к формату и выяснения личной скорости выполнения подобных заданий </a:t>
            </a:r>
            <a:endParaRPr lang="ru-RU" altLang="en-US"/>
          </a:p>
          <a:p>
            <a:endParaRPr lang="ru-RU" altLang="en-US"/>
          </a:p>
          <a:p>
            <a:r>
              <a:rPr lang="ru-RU" altLang="ru-RU"/>
              <a:t>Также для преподавателей важно понимать , что ограничения по времени вызывают более высокую тревожность у учащихся , что без должной подготовки к такому формату приведёт к сильному падению итогового результата </a:t>
            </a:r>
            <a:endParaRPr lang="ru-RU" altLang="ru-RU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059815" y="149225"/>
            <a:ext cx="53257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3200" b="1">
                <a:solidFill>
                  <a:schemeClr val="accent1">
                    <a:lumMod val="75000"/>
                  </a:schemeClr>
                </a:solidFill>
              </a:rPr>
              <a:t>Выводы/личные рекомендации </a:t>
            </a:r>
            <a:endParaRPr lang="ru-RU" altLang="en-US"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835265" y="2696845"/>
            <a:ext cx="3504565" cy="1503045"/>
          </a:xfrm>
          <a:prstGeom prst="roundRect">
            <a:avLst/>
          </a:prstGeom>
          <a:solidFill>
            <a:srgbClr val="AECDC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8020050" y="3524250"/>
            <a:ext cx="2764790" cy="3943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20050" y="1692275"/>
            <a:ext cx="2282825" cy="7632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8075930" y="3550285"/>
            <a:ext cx="502920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>
                <a:solidFill>
                  <a:schemeClr val="bg1"/>
                </a:solidFill>
              </a:rPr>
              <a:t>|</a:t>
            </a:r>
            <a:endParaRPr lang="en-US" altLang="en-US" sz="1600">
              <a:solidFill>
                <a:schemeClr val="bg1"/>
              </a:solidFill>
            </a:endParaRPr>
          </a:p>
        </p:txBody>
      </p:sp>
      <p:pic>
        <p:nvPicPr>
          <p:cNvPr id="16" name="animation.gif">
            <a:hlinkClick r:id="" action="ppaction://media"/>
            <a:hlinkHover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40700" y="1767205"/>
            <a:ext cx="1654810" cy="613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9" dur="984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 vol="0" mute="1" showWhenStopped="1">
                <p:cTn id="10" repeatCount="indefinite" fill="remove" display="1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5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34620" y="4161155"/>
            <a:ext cx="8477885" cy="788035"/>
          </a:xfrm>
        </p:spPr>
        <p:txBody>
          <a:bodyPr>
            <a:normAutofit fontScale="90000"/>
          </a:bodyPr>
          <a:p>
            <a:r>
              <a:rPr lang="ru-RU" altLang="en-US"/>
              <a:t>контакты для связи :</a:t>
            </a:r>
            <a:endParaRPr lang="ru-RU" altLang="en-US"/>
          </a:p>
        </p:txBody>
      </p:sp>
      <p:sp>
        <p:nvSpPr>
          <p:cNvPr id="5" name="Замещающий текст 4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34620" y="4896485"/>
            <a:ext cx="4431665" cy="579755"/>
          </a:xfrm>
        </p:spPr>
        <p:txBody>
          <a:bodyPr>
            <a:normAutofit fontScale="80000"/>
          </a:bodyPr>
          <a:p>
            <a:r>
              <a:rPr lang="en-US" altLang="en-US"/>
              <a:t>email: varvara.mik02@gmail.com 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605" y="4404360"/>
            <a:ext cx="1612900" cy="156464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5941695" y="6057900"/>
            <a:ext cx="26708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1600"/>
              <a:t>результаты первого опроса</a:t>
            </a:r>
            <a:endParaRPr lang="ru-RU" altLang="ru-RU" sz="1600"/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460" y="4399280"/>
            <a:ext cx="1562735" cy="1569720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8887460" y="6057900"/>
            <a:ext cx="2652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600"/>
              <a:t>результаты второго опроса</a:t>
            </a:r>
            <a:endParaRPr lang="ru-RU" altLang="en-US" sz="1600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-635" y="1421765"/>
            <a:ext cx="12192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8000" b="1">
                <a:solidFill>
                  <a:schemeClr val="accent1">
                    <a:lumMod val="50000"/>
                  </a:schemeClr>
                </a:solidFill>
              </a:rPr>
              <a:t>Спасибо за внимание !</a:t>
            </a:r>
            <a:endParaRPr lang="ru-RU" altLang="ru-RU" sz="8000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69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70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DIAGRAM_VIRTUALLY_FRAME" val="{&quot;height&quot;:373.7,&quot;left&quot;:48.75,&quot;top&quot;:106.6,&quot;width&quot;:816.1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78_2*l_h_i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73.7,&quot;left&quot;:48.75,&quot;top&quot;:106.6,&quot;width&quot;:816.1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74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373.7,&quot;left&quot;:48.75,&quot;top&quot;:106.6,&quot;width&quot;:816.1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1_2"/>
  <p:tag name="KSO_WM_UNIT_ID" val="diagram20238278_2*l_h_i*1_1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5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373.7,&quot;left&quot;:48.75,&quot;top&quot;:106.6,&quot;width&quot;:816.1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2_2"/>
  <p:tag name="KSO_WM_UNIT_ID" val="diagram20238278_2*l_h_i*1_2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6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373.7,&quot;left&quot;:48.75,&quot;top&quot;:106.6,&quot;width&quot;:816.1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3_1"/>
  <p:tag name="KSO_WM_UNIT_ID" val="diagram20238278_2*l_h_i*1_3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8_2*l_h_a*1_1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73.7,&quot;left&quot;:48.75,&quot;top&quot;:106.6,&quot;width&quot;:816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78_2*l_h_f*1_1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11"/>
  <p:tag name="KSO_WM_DIAGRAM_MAX_ITEMCNT" val="5"/>
  <p:tag name="KSO_WM_DIAGRAM_MIN_ITEMCNT" val="2"/>
  <p:tag name="KSO_WM_DIAGRAM_VIRTUALLY_FRAME" val="{&quot;height&quot;:373.7,&quot;left&quot;:48.75,&quot;top&quot;:106.6,&quot;width&quot;:816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8_2*l_h_a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73.7,&quot;left&quot;:48.75,&quot;top&quot;:106.6,&quot;width&quot;:816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78_2*l_h_f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373.7,&quot;left&quot;:48.75,&quot;top&quot;:106.6,&quot;width&quot;:816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8_2*l_h_a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73.7,&quot;left&quot;:48.75,&quot;top&quot;:106.6,&quot;width&quot;:816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78_2*l_h_f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373.7,&quot;left&quot;:48.75,&quot;top&quot;:106.6,&quot;width&quot;:816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78_2*l_h_i*1_3_2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73.7,&quot;left&quot;:48.75,&quot;top&quot;:106.6,&quot;width&quot;:816.1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  <p:tag name="resource_record_key" val="{&quot;10&quot;:[19963841],&quot;65&quot;:[20233482],&quot;70&quot;:[3325398,3321780,3320069,3322085]}"/>
</p:tagLst>
</file>

<file path=ppt/tags/tag8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DOCER_RESOURCE_TRACE_INFO" val="{&quot;id&quot;:&quot;20090621&quot;,&quot;origin&quot;:0,&quot;type&quot;:&quot;icons&quot;,&quot;user&quot;:&quot;5378036341433&quot;}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  <p:tag name="resource_record_key" val="{&quot;10&quot;:[20090621],&quot;65&quot;:[20233482]}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PP_MARK_KEY" val="19439bb6-c017-49bb-acea-dd3dfbf8be85"/>
  <p:tag name="COMMONDATA" val="eyJoZGlkIjoiMmNmYmEwOWQ4Y2Q0M2IxMGZkNjI4ZjhkZDQyNzg1OTYifQ=="/>
  <p:tag name="resource_record_key" val="{&quot;10&quot;:[19963841,20090621],&quot;65&quot;:[20233482],&quot;70&quot;:[3325398,3321780,3320069,3322085],&quot;8&quot;:[20472196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 Sans Light"/>
        <a:ea typeface=""/>
        <a:cs typeface=""/>
        <a:font script="Jpan" typeface="游ゴシック Light"/>
        <a:font script="Hang" typeface="맑은 고딕"/>
        <a:font script="Hans" typeface="Nunito 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 Sans Light"/>
        <a:ea typeface=""/>
        <a:cs typeface=""/>
        <a:font script="Jpan" typeface="游ゴシック Light"/>
        <a:font script="Hang" typeface="맑은 고딕"/>
        <a:font script="Hans" typeface="Nunito 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Nunito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 ExtraBold"/>
        <a:ea typeface=""/>
        <a:cs typeface=""/>
        <a:font script="Jpan" typeface="ＭＳ Ｐ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4575</Words>
  <Application>WPS Presentation</Application>
  <PresentationFormat>宽屏</PresentationFormat>
  <Paragraphs>161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Nunito Sans</vt:lpstr>
      <vt:lpstr>Nunito Sans ExtraBold</vt:lpstr>
      <vt:lpstr>Microsoft YaHei</vt:lpstr>
      <vt:lpstr>Times New Roman</vt:lpstr>
      <vt:lpstr>Lato</vt:lpstr>
      <vt:lpstr>Segoe Print</vt:lpstr>
      <vt:lpstr>Manrope ExtraBold</vt:lpstr>
      <vt:lpstr>Arial Unicode MS</vt:lpstr>
      <vt:lpstr>Nunito Sans Light</vt:lpstr>
      <vt:lpstr>Office 主题​​</vt:lpstr>
      <vt:lpstr>Office Theme</vt:lpstr>
      <vt:lpstr>Ситуативная тревожность при цифровом оценивании знаний: </vt:lpstr>
      <vt:lpstr>Проблема/вопрос исследования </vt:lpstr>
      <vt:lpstr>PowerPoint 演示文稿</vt:lpstr>
      <vt:lpstr>Первый тест для доказательства актуальности </vt:lpstr>
      <vt:lpstr>Обзор других исследований использованных при работе 1/3</vt:lpstr>
      <vt:lpstr>Обзор других исследований использованных при работе 2/3</vt:lpstr>
      <vt:lpstr>Обзор других исследований использованных при работе 3/3</vt:lpstr>
      <vt:lpstr>Второй опросник 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контакты для связи 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 strator</dc:creator>
  <cp:lastModifiedBy>Варвара Михайло�</cp:lastModifiedBy>
  <cp:revision>26</cp:revision>
  <dcterms:created xsi:type="dcterms:W3CDTF">2020-05-07T17:08:00Z</dcterms:created>
  <dcterms:modified xsi:type="dcterms:W3CDTF">2026-04-14T05:03:39Z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A13409EB339A40AA809896F63A6135AB_11</vt:lpwstr>
  </property>
  <property fmtid="{D5CDD505-2E9C-101B-9397-08002B2CF9AE}" pid="3" name="KSOProductBuildVer">
    <vt:lpwstr>1049-12.1.0.25242</vt:lpwstr>
  </property>
</Properties>
</file>